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10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UB E-Health: AI-Powered Integrated Healthcare &amp; Hospital Management System</a:t>
            </a:r>
            <a:endParaRPr lang="en-US" sz="3200" b="1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Shaishav | Sangram Jyoti Patra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2211985046 | 2211985045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Rajat Takkar, Assistant Professor, Dept. of CSE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102" name="Content"/>
          <p:cNvSpPr txBox="1"/>
          <p:nvPr/>
        </p:nvSpPr>
        <p:spPr>
          <a:xfrm>
            <a:off x="457200" y="1000000"/>
            <a:ext cx="82296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1. Introduction &amp; Problem Background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2. Project Objectives &amp; Scope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3. System Architecture Overview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4. Development Methodology (Agile Sprints)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5. Tools &amp; Technologies — Frontend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6. Tools &amp; Technologies — Backend &amp; DB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7. System Diagrams — Use Case &amp; Class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8. System Diagrams — Component &amp; ER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9. Application Screenshots — Patient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10. Application Screenshots — Doctor &amp; Messaging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11. AI Features &amp; Security Outcomes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12. Conclusion &amp; Future Scope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Introduction — Problem Background</a:t>
            </a:r>
          </a:p>
        </p:txBody>
      </p:sp>
      <p:sp>
        <p:nvSpPr>
          <p:cNvPr id="102" name="Content"/>
          <p:cNvSpPr txBox="1"/>
          <p:nvPr/>
        </p:nvSpPr>
        <p:spPr>
          <a:xfrm>
            <a:off x="457200" y="1000000"/>
            <a:ext cx="82296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Conventional healthcare relies heavily on manual processes and paper-based records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Patients face difficulty scheduling appointments, accessing reports, and understanding clinical terminology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Doctors struggle with disorganised patient histories and inefficient prescription workflows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Lab staff manage test requests manually — causing delays, lost samples, and entry errors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No unified digital platform results in poor coordination between departments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Increased administrative burden on staff and delayed access to medical information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Unnecessary in-person visits for minor queries reduce quality of patient care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Especially critical in resource-limited or offline healthcare environments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BCD1234-0000-0000-0000-000000000003}" type="slidenum">
              <a:rPr lang="en-US" sz="1200" b="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3</a:t>
            </a:fld>
            <a:endParaRPr lang="en-US" sz="1200" b="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102" name="Content"/>
          <p:cNvSpPr txBox="1"/>
          <p:nvPr/>
        </p:nvSpPr>
        <p:spPr>
          <a:xfrm>
            <a:off x="457200" y="1000000"/>
            <a:ext cx="38862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20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IN SCOPE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Web-based app accessible via modern browsers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Four roles: Patient, Doctor, Lab Personnel, Admin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Appointment booking with online payment (Razorpay)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Lab test management with home service option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AI report interpretation (Gemini + Ollama fallback)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Real-time doctor-patient messaging (Socket.io)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Prescription management with PDF generation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Health trend analytics &amp; visualization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Email notification system with cron scheduling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Ambulance service management</a:t>
            </a:r>
          </a:p>
        </p:txBody>
      </p:sp>
      <p:sp>
        <p:nvSpPr>
          <p:cNvPr id="103" name="Content"/>
          <p:cNvSpPr txBox="1"/>
          <p:nvPr/>
        </p:nvSpPr>
        <p:spPr>
          <a:xfrm>
            <a:off x="4800600" y="1000000"/>
            <a:ext cx="38862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20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OUT OF SCOPE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Mobile native application (iOS / Android)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Video consultation via WebRTC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Integration with external hospital ERP systems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Medical imaging analysis (X-ray, MRI interpretation)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System Architecture Overview</a:t>
            </a:r>
          </a:p>
        </p:txBody>
      </p:sp>
      <p:sp>
        <p:nvSpPr>
          <p:cNvPr id="102" name="Content"/>
          <p:cNvSpPr txBox="1"/>
          <p:nvPr/>
        </p:nvSpPr>
        <p:spPr>
          <a:xfrm>
            <a:off x="457200" y="1000000"/>
            <a:ext cx="82296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20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MERN Stack Full-Stack Web Application</a:t>
            </a:r>
          </a:p>
          <a:p>
            <a:pPr>
              <a:lnSpc>
                <a:spcPts val="800"/>
              </a:lnSpc>
            </a:pPr>
            <a:endParaRPr lang="en-US" sz="1400" dirty="0"/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Frontend: React.js :3000  →  REST API (HTTP) + WebSocket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Backend: Node.js + Express.js :3001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Database Layer: MongoDB (data) + Redis Cache (presence / rate-limiting)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Real-Time: Socket.io Server for doctor-patient chat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AI Services:</a:t>
            </a:r>
          </a:p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   • Google Gemini API (Online cloud AI)</a:t>
            </a:r>
          </a:p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   • Ollama Local Model (Offline fallback)</a:t>
            </a:r>
          </a:p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   • Rule-Based Engine (Final fallback)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Email: Gmail SMTP via Nodemailer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Security: JWT Auth + bcrypt hashing + input sanitization + MIME validation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Development Methodology — Agile Sprints</a:t>
            </a:r>
          </a:p>
        </p:txBody>
      </p:sp>
      <p:sp>
        <p:nvSpPr>
          <p:cNvPr id="100" name="Content"/>
          <p:cNvSpPr txBox="1"/>
          <p:nvPr/>
        </p:nvSpPr>
        <p:spPr>
          <a:xfrm>
            <a:off x="457200" y="1000000"/>
            <a:ext cx="2609866" cy="17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6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Sprint 1: Auth &amp; Users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Patient / Doctor / Admin / Lab registration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JWT authentication middleware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Role-based route protection</a:t>
            </a:r>
          </a:p>
        </p:txBody>
      </p:sp>
      <p:sp>
        <p:nvSpPr>
          <p:cNvPr id="2" name="Content"/>
          <p:cNvSpPr txBox="1"/>
          <p:nvPr/>
        </p:nvSpPr>
        <p:spPr>
          <a:xfrm>
            <a:off x="3167066" y="1000000"/>
            <a:ext cx="2609866" cy="17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6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Sprint 2: Appointments &amp; Lab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Appointment booking with slot management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Lab test booking + home service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Razorpay integration + email notifications</a:t>
            </a:r>
          </a:p>
        </p:txBody>
      </p:sp>
      <p:sp>
        <p:nvSpPr>
          <p:cNvPr id="102" name="Content"/>
          <p:cNvSpPr txBox="1"/>
          <p:nvPr/>
        </p:nvSpPr>
        <p:spPr>
          <a:xfrm>
            <a:off x="5876932" y="1000000"/>
            <a:ext cx="2609866" cy="17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6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Sprint 3: Records &amp; Prescriptions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Doctor report creation with vitals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Prescription mgmt + PDF generation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Document upload &amp; sharing</a:t>
            </a:r>
          </a:p>
        </p:txBody>
      </p:sp>
      <p:sp>
        <p:nvSpPr>
          <p:cNvPr id="103" name="Content"/>
          <p:cNvSpPr txBox="1"/>
          <p:nvPr/>
        </p:nvSpPr>
        <p:spPr>
          <a:xfrm>
            <a:off x="457200" y="2900000"/>
            <a:ext cx="2609866" cy="17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6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Sprint 4: AI Integration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Google Gemini API for report interpretation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Ollama local AI fallback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Rule-based fallback + health chatbot</a:t>
            </a:r>
          </a:p>
        </p:txBody>
      </p:sp>
      <p:sp>
        <p:nvSpPr>
          <p:cNvPr id="104" name="Content"/>
          <p:cNvSpPr txBox="1"/>
          <p:nvPr/>
        </p:nvSpPr>
        <p:spPr>
          <a:xfrm>
            <a:off x="3167066" y="2900000"/>
            <a:ext cx="2609866" cy="17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6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Sprint 5: Real-Time Chat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Socket.io server setup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Redis for caching &amp; presence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Doctor-patient chat + typing indicators</a:t>
            </a:r>
          </a:p>
        </p:txBody>
      </p:sp>
      <p:sp>
        <p:nvSpPr>
          <p:cNvPr id="105" name="Content"/>
          <p:cNvSpPr txBox="1"/>
          <p:nvPr/>
        </p:nvSpPr>
        <p:spPr>
          <a:xfrm>
            <a:off x="5876932" y="2900000"/>
            <a:ext cx="2609866" cy="17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6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Sprint 6: Analytics &amp; Polish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Health trends analytics dashboard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Health score calculation system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Admin dashboard + responsive UI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Tools &amp; Technologies — Frontend</a:t>
            </a:r>
          </a:p>
        </p:txBody>
      </p:sp>
      <p:sp>
        <p:nvSpPr>
          <p:cNvPr id="102" name="Content"/>
          <p:cNvSpPr txBox="1"/>
          <p:nvPr/>
        </p:nvSpPr>
        <p:spPr>
          <a:xfrm>
            <a:off x="457200" y="1000000"/>
            <a:ext cx="82296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React.js v18 — Component-based UI; virtual DOM for efficient rendering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Redux — Centralized state management; unidirectional data flow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React Router v6 — Client-side routing with protected routes for role auth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Axios — Promise-based HTTP client with request/response interceptors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Chart.js + react-chartjs-2 — Interactive health trend charts (vitals over time)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jsPDF — Client-side PDF generation for prescriptions and appointment receipts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React-Toastify — Non-intrusive success / error / info notifications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socket.io-client — WebSocket connections for real-time doctor-patient chat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Tools &amp; Technologies — Backend &amp; Database</a:t>
            </a:r>
          </a:p>
        </p:txBody>
      </p:sp>
      <p:sp>
        <p:nvSpPr>
          <p:cNvPr id="102" name="Content"/>
          <p:cNvSpPr txBox="1"/>
          <p:nvPr/>
        </p:nvSpPr>
        <p:spPr>
          <a:xfrm>
            <a:off x="457200" y="1000000"/>
            <a:ext cx="82296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Node.js — Non-blocking event-driven JavaScript runtime; ideal for real-time I/O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Express.js v4 — REST API framework with middleware and routing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Socket.io v4 — Bidirectional real-time communication with WebSocket + HTTP fallback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JWT (jsonwebtoken) — Stateless authentication; token carries userId and role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bcrypt — Password hashing with salt; prevents rainbow table attacks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Multer — Middleware for multipart file uploads (medical docs, chat attachments)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MongoDB + Mongoose v6 — NoSQL document DB with ODM schema, validation &amp; populate()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Redis (ioredis) — In-memory store for presence, typing indicators, rate limiting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Nodemailer + node-cron — Automated appointment / medication email reminders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Winston — Audit logging for chat, auth failures, and security events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System Diagrams — Use Case Diagram</a:t>
            </a:r>
          </a:p>
        </p:txBody>
      </p:sp>
      <p:pic>
        <p:nvPicPr>
          <p:cNvPr id="201" name="Image2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00000"/>
            <a:ext cx="8229600" cy="4840000"/>
          </a:xfrm>
          <a:prstGeom prst="rect">
            <a:avLst/>
          </a:prstGeom>
        </p:spPr>
      </p:pic>
      <p:sp>
        <p:nvSpPr>
          <p:cNvPr id="102" name="Content"/>
          <p:cNvSpPr txBox="1"/>
          <p:nvPr/>
        </p:nvSpPr>
        <p:spPr>
          <a:xfrm>
            <a:off x="457200" y="5770000"/>
            <a:ext cx="8229600" cy="25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</a:rPr>
              <a:t>Four actor roles: Patient, Doctor, Lab Personnel, Admin — with AI report interpretation and real-time chat interactions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System Diagrams — UML Class Diagram</a:t>
            </a:r>
          </a:p>
        </p:txBody>
      </p:sp>
      <p:pic>
        <p:nvPicPr>
          <p:cNvPr id="201" name="Image2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00000"/>
            <a:ext cx="8229600" cy="4840000"/>
          </a:xfrm>
          <a:prstGeom prst="rect">
            <a:avLst/>
          </a:prstGeom>
        </p:spPr>
      </p:pic>
      <p:sp>
        <p:nvSpPr>
          <p:cNvPr id="102" name="Content"/>
          <p:cNvSpPr txBox="1"/>
          <p:nvPr/>
        </p:nvSpPr>
        <p:spPr>
          <a:xfrm>
            <a:off x="457200" y="5770000"/>
            <a:ext cx="8229600" cy="25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</a:rPr>
              <a:t>Core entities: Patient, Doctor, LabPersonnel, Admin with relationships to Appointment, LabReport, Prescription, Conversation, ChatMessage, Payment, Document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System Diagrams — UML Component Diagram</a:t>
            </a:r>
          </a:p>
        </p:txBody>
      </p:sp>
      <p:pic>
        <p:nvPicPr>
          <p:cNvPr id="201" name="Image2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00000"/>
            <a:ext cx="8229600" cy="4840000"/>
          </a:xfrm>
          <a:prstGeom prst="rect">
            <a:avLst/>
          </a:prstGeom>
        </p:spPr>
      </p:pic>
      <p:sp>
        <p:nvSpPr>
          <p:cNvPr id="102" name="Content"/>
          <p:cNvSpPr txBox="1"/>
          <p:nvPr/>
        </p:nvSpPr>
        <p:spPr>
          <a:xfrm>
            <a:off x="457200" y="5770000"/>
            <a:ext cx="8229600" cy="25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</a:rPr>
              <a:t>Frontend (React + Redux Store) communicates with Backend (Express routes, AI services, Socket.io, Notification Scheduler) and External Services (MongoDB, Redis, Gemini, Razorpay, Gmail)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System Diagrams — Database ER Diagram</a:t>
            </a:r>
          </a:p>
        </p:txBody>
      </p:sp>
      <p:pic>
        <p:nvPicPr>
          <p:cNvPr id="201" name="Image2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00000"/>
            <a:ext cx="8229600" cy="4840000"/>
          </a:xfrm>
          <a:prstGeom prst="rect">
            <a:avLst/>
          </a:prstGeom>
        </p:spPr>
      </p:pic>
      <p:sp>
        <p:nvSpPr>
          <p:cNvPr id="102" name="Content"/>
          <p:cNvSpPr txBox="1"/>
          <p:nvPr/>
        </p:nvSpPr>
        <p:spPr>
          <a:xfrm>
            <a:off x="457200" y="5770000"/>
            <a:ext cx="8229600" cy="25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</a:rPr>
              <a:t>Crow's Foot Notation: User Cluster (Patient, Doctor, LabPersonnel, Admin), Clinical Record Cluster (Appointment, LabReport, Report, Prescription), Interaction Cluster (Conversation, ChatMessage)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Application Output — Patient Dashboard</a:t>
            </a:r>
          </a:p>
        </p:txBody>
      </p:sp>
      <p:pic>
        <p:nvPicPr>
          <p:cNvPr id="201" name="Image2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0000"/>
            <a:ext cx="4663440" cy="4950000"/>
          </a:xfrm>
          <a:prstGeom prst="rect">
            <a:avLst/>
          </a:prstGeom>
        </p:spPr>
      </p:pic>
      <p:sp>
        <p:nvSpPr>
          <p:cNvPr id="102" name="Content"/>
          <p:cNvSpPr txBox="1"/>
          <p:nvPr/>
        </p:nvSpPr>
        <p:spPr>
          <a:xfrm>
            <a:off x="5577840" y="1000000"/>
            <a:ext cx="3108960" cy="495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20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Patient Dashboard</a:t>
            </a:r>
          </a:p>
          <a:p>
            <a:pPr>
              <a:lnSpc>
                <a:spcPts val="800"/>
              </a:lnSpc>
            </a:pPr>
            <a:endParaRPr lang="en-US" sz="1400" dirty="0"/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Health Score indicator (0-100)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Stat cards: Upcoming Appointments, Active Medications, Pending Lab Tests, Total Reports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Quick Action tiles: Book Appointment, My Medications, Lab Tests, My Reports, Health Trends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Emergency (Ambulance) service — Coming Soon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6280099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Application Output — Appointment Booking &amp; AI Chatbot</a:t>
            </a:r>
          </a:p>
        </p:txBody>
      </p:sp>
      <p:pic>
        <p:nvPicPr>
          <p:cNvPr id="201" name="Image2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0000"/>
            <a:ext cx="3886200" cy="4675000"/>
          </a:xfrm>
          <a:prstGeom prst="rect">
            <a:avLst/>
          </a:prstGeom>
        </p:spPr>
      </p:pic>
      <p:pic>
        <p:nvPicPr>
          <p:cNvPr id="202" name="Image2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00000"/>
            <a:ext cx="3886200" cy="4675000"/>
          </a:xfrm>
          <a:prstGeom prst="rect">
            <a:avLst/>
          </a:prstGeom>
        </p:spPr>
      </p:pic>
      <p:sp>
        <p:nvSpPr>
          <p:cNvPr id="102" name="Content"/>
          <p:cNvSpPr txBox="1"/>
          <p:nvPr/>
        </p:nvSpPr>
        <p:spPr>
          <a:xfrm>
            <a:off x="457200" y="5705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</a:rPr>
              <a:t>Appointment Booking Form: Select Department, Doctor, Date &amp; Time, then proceed to Razorpay payment</a:t>
            </a:r>
          </a:p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</a:rPr>
              <a:t>Patient Profile + AI Health Chatbot: Personal info, Health Grade, Hospital details, and 24/7 AI assistant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6009437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Application Output — Doctor Dashboard &amp; Messaging</a:t>
            </a:r>
          </a:p>
        </p:txBody>
      </p:sp>
      <p:pic>
        <p:nvPicPr>
          <p:cNvPr id="201" name="Image2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0000"/>
            <a:ext cx="3886200" cy="4675000"/>
          </a:xfrm>
          <a:prstGeom prst="rect">
            <a:avLst/>
          </a:prstGeom>
        </p:spPr>
      </p:pic>
      <p:pic>
        <p:nvPicPr>
          <p:cNvPr id="202" name="Image2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00000"/>
            <a:ext cx="3886200" cy="4675000"/>
          </a:xfrm>
          <a:prstGeom prst="rect">
            <a:avLst/>
          </a:prstGeom>
        </p:spPr>
      </p:pic>
      <p:sp>
        <p:nvSpPr>
          <p:cNvPr id="102" name="Content"/>
          <p:cNvSpPr txBox="1"/>
          <p:nvPr/>
        </p:nvSpPr>
        <p:spPr>
          <a:xfrm>
            <a:off x="457200" y="5705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</a:rPr>
              <a:t>Doctor Dashboard: Today's Appointments, Total Patients, Reports Generated, Prescriptions Issued — with Quick Actions</a:t>
            </a:r>
          </a:p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</a:rPr>
              <a:t>Real-Time Messaging: Doctor-Patient chat via Socket.io; My Patients list with active conversations and emergency-only mode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Application Output — Medications &amp; AI Report Interpreter</a:t>
            </a:r>
          </a:p>
        </p:txBody>
      </p:sp>
      <p:pic>
        <p:nvPicPr>
          <p:cNvPr id="201" name="Image2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0000"/>
            <a:ext cx="3886200" cy="4675000"/>
          </a:xfrm>
          <a:prstGeom prst="rect">
            <a:avLst/>
          </a:prstGeom>
        </p:spPr>
      </p:pic>
      <p:pic>
        <p:nvPicPr>
          <p:cNvPr id="202" name="Image2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00000"/>
            <a:ext cx="3886200" cy="4675000"/>
          </a:xfrm>
          <a:prstGeom prst="rect">
            <a:avLst/>
          </a:prstGeom>
        </p:spPr>
      </p:pic>
      <p:sp>
        <p:nvSpPr>
          <p:cNvPr id="102" name="Content"/>
          <p:cNvSpPr txBox="1"/>
          <p:nvPr/>
        </p:nvSpPr>
        <p:spPr>
          <a:xfrm>
            <a:off x="457200" y="5705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</a:rPr>
              <a:t>My Medications: Track active prescriptions — Dosage, Frequency, Duration — with View Full Prescription and Mark as Completed</a:t>
            </a:r>
          </a:p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1500" dirty="0">
                <a:solidFill>
                  <a:srgbClr val="333333"/>
                </a:solidFill>
                <a:latin typeface="Times New Roman" panose="02020603050405020304" pitchFamily="18" charset="0"/>
              </a:rPr>
              <a:t>AI Report Simplified: Executive Summary, Diagnosis Explained, Vital Signs — all in plain patient-friendly language powered by Google Gemini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AI Features &amp; Security Outcomes</a:t>
            </a:r>
          </a:p>
        </p:txBody>
      </p:sp>
      <p:sp>
        <p:nvSpPr>
          <p:cNvPr id="102" name="Content"/>
          <p:cNvSpPr txBox="1"/>
          <p:nvPr/>
        </p:nvSpPr>
        <p:spPr>
          <a:xfrm>
            <a:off x="457200" y="1000000"/>
            <a:ext cx="38862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20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AI Feature Outcomes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Patient Comprehension: Lab reports translated to plain language without medical training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Offline Availability: Ollama fallback keeps AI functional in rural/offline settings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Structured Output: JSON response in sections — Summary, Parameter Explanations, Recommendations, Doctor Questions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Safety Disclaimer: Every interpretation includes a reminder to consult their doctor</a:t>
            </a:r>
          </a:p>
        </p:txBody>
      </p:sp>
      <p:sp>
        <p:nvSpPr>
          <p:cNvPr id="103" name="Content"/>
          <p:cNvSpPr txBox="1"/>
          <p:nvPr/>
        </p:nvSpPr>
        <p:spPr>
          <a:xfrm>
            <a:off x="4800600" y="1000000"/>
            <a:ext cx="38862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20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Security Outcomes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XSS Prevention: All user inputs sanitized; script tags stripped via DOMPurify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Injection Prevention: ObjectId validation prevents NoSQL injection attacks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Unauthorized Access: Role middleware blocks all cross-role access attempts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Password Security: bcrypt hashing with salt rounds for all stored credentials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File Upload Security: MIME type and file size validation enforced on every upload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AI Features &amp; Security Outcomes</a:t>
            </a:r>
          </a:p>
        </p:txBody>
      </p:sp>
      <p:sp>
        <p:nvSpPr>
          <p:cNvPr id="102" name="Content"/>
          <p:cNvSpPr txBox="1"/>
          <p:nvPr/>
        </p:nvSpPr>
        <p:spPr>
          <a:xfrm>
            <a:off x="457200" y="1000000"/>
            <a:ext cx="38862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20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AI Feature Outcomes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Patient Comprehension: Lab reports translated to plain language without medical training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Offline Availability: Ollama fallback keeps AI functional in rural/offline settings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Structured Output: JSON response in sections — Summary, Parameter Explanations, Recommendations, Doctor Questions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Safety Disclaimer: Every interpretation includes a reminder to consult their doctor</a:t>
            </a:r>
          </a:p>
        </p:txBody>
      </p:sp>
      <p:sp>
        <p:nvSpPr>
          <p:cNvPr id="103" name="Content"/>
          <p:cNvSpPr txBox="1"/>
          <p:nvPr/>
        </p:nvSpPr>
        <p:spPr>
          <a:xfrm>
            <a:off x="4800600" y="1000000"/>
            <a:ext cx="38862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20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Security Outcomes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XSS Prevention: All user inputs sanitized; script tags stripped via DOMPurify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Injection Prevention: ObjectId validation prevents NoSQL injection attacks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Unauthorized Access: Role middleware blocks all cross-role access attempts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Password Security: bcrypt hashing with salt rounds for all stored credentials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File Upload Security: MIME type and file size validation enforced on every upload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102" name="Content"/>
          <p:cNvSpPr txBox="1"/>
          <p:nvPr/>
        </p:nvSpPr>
        <p:spPr>
          <a:xfrm>
            <a:off x="457200" y="1000000"/>
            <a:ext cx="38862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20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Conclusion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Successfully built a production-ready AI-powered healthcare management system on the MERN stack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All planned objectives achieved — role auth, appointments, lab tests, prescriptions, AI reports, real-time chat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Dual-mode AI architecture (Gemini + Ollama) — a key original contribution making intelligent interpretation universally accessible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Security implemented at every layer; system tested end-to-end across all modules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Reduces appointment scheduling time, improves patient understanding, centralises hospital workflows</a:t>
            </a:r>
          </a:p>
        </p:txBody>
      </p:sp>
      <p:sp>
        <p:nvSpPr>
          <p:cNvPr id="103" name="Content"/>
          <p:cNvSpPr txBox="1"/>
          <p:nvPr/>
        </p:nvSpPr>
        <p:spPr>
          <a:xfrm>
            <a:off x="4800600" y="1000000"/>
            <a:ext cx="3886200" cy="55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lnSpc>
                <a:spcPts val="1400"/>
              </a:lnSpc>
              <a:spcBef>
                <a:spcPts val="120"/>
              </a:spcBef>
            </a:pPr>
            <a:r>
              <a:rPr lang="en-US" sz="2000" b="1" dirty="0">
                <a:solidFill>
                  <a:srgbClr val="C0392B"/>
                </a:solidFill>
                <a:latin typeface="Times New Roman" panose="02020603050405020304" pitchFamily="18" charset="0"/>
              </a:rPr>
              <a:t>Future Scope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WebRTC video consultation (telemedicine)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React Native mobile app for iOS &amp; Android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Medical image analysis with vision-capable AI (X-ray, MRI, CT)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Wearable device integration (smartwatch health metrics)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Two-Factor Authentication (OTP via SMS)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Multi-language support for regional Indian languages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HL7 FHIR-compliant EHR export for interoperability</a:t>
            </a:r>
          </a:p>
          <a:p>
            <a:pPr marL="457200" indent="-317500">
              <a:buClr>
                <a:srgbClr val="000000"/>
              </a:buClr>
              <a:buSzPts val="12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</a:rPr>
              <a:t>HIPAA/DPDP-compliant audit trail and compliance reporting</a:t>
            </a:r>
          </a:p>
        </p:txBody>
      </p:sp>
      <p:sp>
        <p:nvSpPr>
          <p:cNvPr id="110" name="Slid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457200" y="50000"/>
            <a:ext cx="8229600" cy="79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Thank You</a:t>
            </a:r>
          </a:p>
        </p:txBody>
      </p:sp>
      <p:sp>
        <p:nvSpPr>
          <p:cNvPr id="102" name="Content"/>
          <p:cNvSpPr txBox="1"/>
          <p:nvPr/>
        </p:nvSpPr>
        <p:spPr>
          <a:xfrm>
            <a:off x="457200" y="1100000"/>
            <a:ext cx="8229600" cy="50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ctr">
              <a:lnSpc>
                <a:spcPts val="1400"/>
              </a:lnSpc>
              <a:spcBef>
                <a:spcPts val="12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UB E-Health: AI-Powered Integrated Healthcare &amp; Hospital Management System</a:t>
            </a:r>
          </a:p>
          <a:p>
            <a:pPr>
              <a:lnSpc>
                <a:spcPts val="800"/>
              </a:lnSpc>
            </a:pPr>
            <a:endParaRPr lang="en-US" sz="1400" dirty="0"/>
          </a:p>
          <a:p>
            <a:pPr algn="ctr">
              <a:lnSpc>
                <a:spcPts val="1400"/>
              </a:lnSpc>
              <a:spcBef>
                <a:spcPts val="12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Shaishav  |  Sangram Jyoti Patra</a:t>
            </a:r>
          </a:p>
          <a:p>
            <a:pPr algn="ctr">
              <a:lnSpc>
                <a:spcPts val="1400"/>
              </a:lnSpc>
              <a:spcBef>
                <a:spcPts val="12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Roll No: 2211985046  |  2211985045</a:t>
            </a:r>
          </a:p>
          <a:p>
            <a:pPr>
              <a:lnSpc>
                <a:spcPts val="800"/>
              </a:lnSpc>
            </a:pPr>
            <a:endParaRPr lang="en-US" sz="1400" dirty="0"/>
          </a:p>
          <a:p>
            <a:pPr algn="ctr">
              <a:lnSpc>
                <a:spcPts val="1400"/>
              </a:lnSpc>
              <a:spcBef>
                <a:spcPts val="12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lnSpc>
                <a:spcPts val="1400"/>
              </a:lnSpc>
              <a:spcBef>
                <a:spcPts val="12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Chitkara University Institute of Engineering and Technology, Punjab</a:t>
            </a:r>
          </a:p>
          <a:p>
            <a:pPr>
              <a:lnSpc>
                <a:spcPts val="800"/>
              </a:lnSpc>
            </a:pPr>
            <a:endParaRPr lang="en-US" sz="1400" dirty="0"/>
          </a:p>
          <a:p>
            <a:pPr algn="ctr">
              <a:lnSpc>
                <a:spcPts val="1400"/>
              </a:lnSpc>
              <a:spcBef>
                <a:spcPts val="120"/>
              </a:spcBef>
            </a:pPr>
            <a:r>
              <a:rPr lang="en-US" sz="1700" dirty="0">
                <a:solidFill>
                  <a:srgbClr val="666666"/>
                </a:solidFill>
                <a:latin typeface="Times New Roman" panose="02020603050405020304" pitchFamily="18" charset="0"/>
              </a:rPr>
              <a:t>Tech Stack: MERN | Socket.io | Redis | Google Gemini | Ollama | Razorpay | JWT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34704</TotalTime>
  <Words>1621</Words>
  <Application>Microsoft Office PowerPoint</Application>
  <PresentationFormat>On-screen Show (4:3)</PresentationFormat>
  <Paragraphs>204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SHAISHAV .</cp:lastModifiedBy>
  <cp:revision>2300</cp:revision>
  <dcterms:created xsi:type="dcterms:W3CDTF">2010-04-09T07:36:15Z</dcterms:created>
  <dcterms:modified xsi:type="dcterms:W3CDTF">2026-05-05T04:04:14Z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